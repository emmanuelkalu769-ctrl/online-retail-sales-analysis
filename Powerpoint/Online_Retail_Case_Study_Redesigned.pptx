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5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ln w="31750">
              <a:solidFill>
                <a:srgbClr val="0E1A77"/>
              </a:solidFill>
            </a:ln>
          </c:spPr>
          <c:marker>
            <c:spPr>
              <a:solidFill>
                <a:srgbClr val="0E1A77"/>
              </a:solidFill>
            </c:spPr>
          </c:marker>
          <c:cat>
            <c:strRef>
              <c:f>Sheet1!$A$2:$A$14</c:f>
              <c:strCache>
                <c:ptCount val="13"/>
                <c:pt idx="0">
                  <c:v>Dec 10</c:v>
                </c:pt>
                <c:pt idx="1">
                  <c:v>Jan</c:v>
                </c:pt>
                <c:pt idx="2">
                  <c:v>Feb</c:v>
                </c:pt>
                <c:pt idx="3">
                  <c:v>Mar</c:v>
                </c:pt>
                <c:pt idx="4">
                  <c:v>Apr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Aug</c:v>
                </c:pt>
                <c:pt idx="9">
                  <c:v>Sep</c:v>
                </c:pt>
                <c:pt idx="10">
                  <c:v>Oct</c:v>
                </c:pt>
                <c:pt idx="11">
                  <c:v>Nov</c:v>
                </c:pt>
                <c:pt idx="12">
                  <c:v>Dec 11*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748957</c:v>
                </c:pt>
                <c:pt idx="1">
                  <c:v>560000</c:v>
                </c:pt>
                <c:pt idx="2">
                  <c:v>498063</c:v>
                </c:pt>
                <c:pt idx="3">
                  <c:v>683267</c:v>
                </c:pt>
                <c:pt idx="4">
                  <c:v>493207</c:v>
                </c:pt>
                <c:pt idx="5">
                  <c:v>723334</c:v>
                </c:pt>
                <c:pt idx="6">
                  <c:v>691123</c:v>
                </c:pt>
                <c:pt idx="7">
                  <c:v>681300</c:v>
                </c:pt>
                <c:pt idx="8">
                  <c:v>693743</c:v>
                </c:pt>
                <c:pt idx="9">
                  <c:v>1019688</c:v>
                </c:pt>
                <c:pt idx="10">
                  <c:v>1070705</c:v>
                </c:pt>
                <c:pt idx="11">
                  <c:v>1461756</c:v>
                </c:pt>
                <c:pt idx="12">
                  <c:v>433668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C6-4C7A-A809-FF462CBCA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NG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NG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-274320"/>
            <a:ext cx="3840480" cy="7498079"/>
          </a:xfrm>
          <a:prstGeom prst="rect">
            <a:avLst/>
          </a:prstGeom>
          <a:solidFill>
            <a:srgbClr val="29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46920" y="-274320"/>
            <a:ext cx="3063240" cy="7498079"/>
          </a:xfrm>
          <a:prstGeom prst="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 ANALYTICS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589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Online Retail</a:t>
            </a:r>
            <a:br/>
            <a:r>
              <a:t>Sales &amp; Customer</a:t>
            </a:r>
            <a:br/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251960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From 541,909 transaction lines to an executive commercial performance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521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Google BigQuery  × 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585216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01 /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The problem was not missing data — it was missing commercial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657600" cy="416052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Revenue, customer, product and market activity existed in the transaction data, but not in a decision-ready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The analysis needed to turn transactions into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81F32"/>
                </a:solidFill>
                <a:latin typeface="Aptos"/>
              </a:defRPr>
            </a:pPr>
            <a:r>
              <a:t>Build a reliable commercial performance view and surface patterns, risks and opportunities that management can act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290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ANALYTICAL LENSES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822191"/>
            <a:ext cx="3063240" cy="8229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393192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E1A77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81F32"/>
                </a:solidFill>
                <a:latin typeface="Aptos"/>
              </a:defRPr>
            </a:pPr>
            <a:r>
              <a:t>How much, when, and what drove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822191"/>
            <a:ext cx="3063240" cy="8229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93192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E1A77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81F32"/>
                </a:solidFill>
                <a:latin typeface="Aptos"/>
              </a:defRPr>
            </a:pPr>
            <a:r>
              <a:t>Who contributes value and who repeats?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846320"/>
            <a:ext cx="3063240" cy="8229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495604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E1A77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5184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81F32"/>
                </a:solidFill>
                <a:latin typeface="Aptos"/>
              </a:defRPr>
            </a:pPr>
            <a:r>
              <a:t>Which merchandise performs after cancellations?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846320"/>
            <a:ext cx="3063240" cy="8229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495604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E1A77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84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81F32"/>
                </a:solidFill>
                <a:latin typeface="Aptos"/>
              </a:defRPr>
            </a:pPr>
            <a:r>
              <a:t>Where is revenue concentrated?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02 / DATA &amp;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The analysis preserved the raw source, then built a defensible transaction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874519" cy="105156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6771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541,909</a:t>
            </a:r>
            <a:br/>
            <a:r>
              <a:t>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2212848"/>
            <a:ext cx="310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1A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828800"/>
            <a:ext cx="1874519" cy="1051560"/>
          </a:xfrm>
          <a:prstGeom prst="roundRect">
            <a:avLst/>
          </a:prstGeom>
          <a:solidFill>
            <a:srgbClr val="E6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54096" y="197510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E1A77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26771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1F32"/>
                </a:solidFill>
                <a:latin typeface="Aptos"/>
              </a:defRPr>
            </a:pPr>
            <a:r>
              <a:t>Missing IDs,</a:t>
            </a:r>
            <a:br/>
            <a:r>
              <a:t>negative qty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12848"/>
            <a:ext cx="310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1A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1828800"/>
            <a:ext cx="1874519" cy="1051560"/>
          </a:xfrm>
          <a:prstGeom prst="roundRect">
            <a:avLst/>
          </a:prstGeom>
          <a:solidFill>
            <a:srgbClr val="E6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97510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E1A77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26771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1F32"/>
                </a:solidFill>
                <a:latin typeface="Aptos"/>
              </a:defRPr>
            </a:pPr>
            <a:r>
              <a:t>Sales,</a:t>
            </a:r>
            <a:br/>
            <a:r>
              <a:t>cancellations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212848"/>
            <a:ext cx="310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1A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828800"/>
            <a:ext cx="1874519" cy="1051560"/>
          </a:xfrm>
          <a:prstGeom prst="roundRect">
            <a:avLst/>
          </a:prstGeom>
          <a:solidFill>
            <a:srgbClr val="E6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1" y="197510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E1A77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26771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1F32"/>
                </a:solidFill>
                <a:latin typeface="Aptos"/>
              </a:defRPr>
            </a:pPr>
            <a:r>
              <a:t>Processed</a:t>
            </a:r>
            <a:br/>
            <a: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212848"/>
            <a:ext cx="310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1A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1828800"/>
            <a:ext cx="1874519" cy="105156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9800" y="197510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26771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SQL KPI</a:t>
            </a:r>
            <a:br/>
            <a:r>
              <a:t>benchmarks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2900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3575304"/>
            <a:ext cx="2039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RAW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22191"/>
            <a:ext cx="2039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541,909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224528"/>
            <a:ext cx="20391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No rows dropped in 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342900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92424" y="3575304"/>
            <a:ext cx="2039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MISSING CUSTOMERID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2424" y="3822191"/>
            <a:ext cx="2039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24.93%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4" y="4224528"/>
            <a:ext cx="20391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Customer analysis is identifiable-only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42900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07024" y="3575304"/>
            <a:ext cx="2039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CANCELLATION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3822191"/>
            <a:ext cx="2039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9,288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224528"/>
            <a:ext cx="20391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Included in net revenue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42900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21624" y="3575304"/>
            <a:ext cx="2039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POTENTIAL DUPLICATES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822191"/>
            <a:ext cx="2039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5,268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4224528"/>
            <a:ext cx="20391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Retained: not provably erroneous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74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81F32"/>
                </a:solidFill>
                <a:latin typeface="Aptos"/>
              </a:defRPr>
            </a:pPr>
            <a:r>
              <a:t>Key modelling decision: LineValue was not automatically treated as revenue. Transaction type determined whether a row belonged in commercial KPIs.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03 / 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The business generated £9.76M in net transactional revenue from 19,959 sales orders.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883664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NET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130552"/>
            <a:ext cx="1764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£9.76M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532888"/>
            <a:ext cx="1764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after recorded cancellations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37360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72384" y="1883664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130552"/>
            <a:ext cx="1764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19,959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532888"/>
            <a:ext cx="1764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distinct sales invoices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737360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883664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130552"/>
            <a:ext cx="1764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4,338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532888"/>
            <a:ext cx="1764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identifiable sales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737360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52944" y="1883664"/>
            <a:ext cx="1764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AOV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2130552"/>
            <a:ext cx="1764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£488.94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532888"/>
            <a:ext cx="1764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net revenue ÷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737360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93224" y="1883664"/>
            <a:ext cx="158191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26C7E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3224" y="2130552"/>
            <a:ext cx="158191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0E1A77"/>
                </a:solidFill>
                <a:latin typeface="Aptos"/>
              </a:defRPr>
            </a:pPr>
            <a:r>
              <a:t>5.59M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2532888"/>
            <a:ext cx="158191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customer sale units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10972800" cy="17373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6393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SUPPORTING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50791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1F32"/>
                </a:solidFill>
                <a:latin typeface="Aptos"/>
              </a:defRPr>
            </a:pPr>
            <a:r>
              <a:t>£10.66M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2628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7E"/>
                </a:solidFill>
                <a:latin typeface="Aptos"/>
              </a:defRPr>
            </a:pPr>
            <a:r>
              <a:t>Gross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050791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1F32"/>
                </a:solidFill>
                <a:latin typeface="Aptos"/>
              </a:defRPr>
            </a:pPr>
            <a:r>
              <a:t>−£896.8K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52628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7E"/>
                </a:solidFill>
                <a:latin typeface="Aptos"/>
              </a:defRPr>
            </a:pPr>
            <a:r>
              <a:t>Cancellation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50791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1F32"/>
                </a:solidFill>
                <a:latin typeface="Aptos"/>
              </a:defRPr>
            </a:pPr>
            <a:r>
              <a:t>84.02%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7E"/>
                </a:solidFill>
                <a:latin typeface="Aptos"/>
              </a:defRPr>
            </a:pPr>
            <a:r>
              <a:t>UK Revenue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050791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1F32"/>
                </a:solidFill>
                <a:latin typeface="Aptos"/>
              </a:defRPr>
            </a:pPr>
            <a:r>
              <a:t>65.58%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52628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26C7E"/>
                </a:solidFill>
                <a:latin typeface="Aptos"/>
              </a:defRPr>
            </a:pPr>
            <a:r>
              <a:t>Repeat Customer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04 / REVENUE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rPr dirty="0"/>
              <a:t>Late-2011 growth came mainly from more orders, customers and units </a:t>
            </a:r>
            <a:r>
              <a:rPr lang="en-US" dirty="0"/>
              <a:t>-</a:t>
            </a:r>
            <a:r>
              <a:rPr dirty="0"/>
              <a:t> not a major AOV increase.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600200"/>
          <a:ext cx="7680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732520" y="1783080"/>
            <a:ext cx="2697480" cy="128016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1975104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NOVEMBER 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9408" y="2267712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£1.46M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269748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strongest complete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4747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AUG → NOV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79476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1F32"/>
                </a:solidFill>
                <a:latin typeface="Aptos"/>
              </a:defRPr>
            </a:pPr>
            <a:r>
              <a:t>• Revenue +110.7%</a:t>
            </a:r>
          </a:p>
          <a:p>
            <a:pPr>
              <a:spcAft>
                <a:spcPts val="1000"/>
              </a:spcAft>
              <a:defRPr sz="1200">
                <a:solidFill>
                  <a:srgbClr val="181F32"/>
                </a:solidFill>
                <a:latin typeface="Aptos"/>
              </a:defRPr>
            </a:pPr>
            <a:r>
              <a:t>• Orders +103.6%</a:t>
            </a:r>
          </a:p>
          <a:p>
            <a:pPr>
              <a:spcAft>
                <a:spcPts val="1000"/>
              </a:spcAft>
              <a:defRPr sz="1200">
                <a:solidFill>
                  <a:srgbClr val="181F32"/>
                </a:solidFill>
                <a:latin typeface="Aptos"/>
              </a:defRPr>
            </a:pPr>
            <a:r>
              <a:t>• Customers +78.0%</a:t>
            </a:r>
          </a:p>
          <a:p>
            <a:pPr>
              <a:spcAft>
                <a:spcPts val="1000"/>
              </a:spcAft>
              <a:defRPr sz="1200">
                <a:solidFill>
                  <a:srgbClr val="181F32"/>
                </a:solidFill>
                <a:latin typeface="Aptos"/>
              </a:defRPr>
            </a:pPr>
            <a:r>
              <a:t>• Units +78.9%</a:t>
            </a:r>
          </a:p>
          <a:p>
            <a:pPr>
              <a:spcAft>
                <a:spcPts val="1000"/>
              </a:spcAft>
              <a:defRPr sz="1200">
                <a:solidFill>
                  <a:srgbClr val="181F32"/>
                </a:solidFill>
                <a:latin typeface="Aptos"/>
              </a:defRPr>
            </a:pPr>
            <a:r>
              <a:t>• AOV +3.5%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* December 2011 contains only data through 9 December and is not comparable with complete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05 /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Commercial performance is highly concentrated by both geography and customer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94960" cy="420624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GEOGRAPHIC 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E1A77"/>
                </a:solidFill>
                <a:latin typeface="Aptos"/>
              </a:defRPr>
            </a:pPr>
            <a:r>
              <a:t>84.02%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1635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81F32"/>
                </a:solidFill>
                <a:latin typeface="Aptos"/>
              </a:defRPr>
            </a:pPr>
            <a:r>
              <a:t>of net revenue came from the 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United Kingdom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3401568"/>
            <a:ext cx="2560320" cy="128016"/>
          </a:xfrm>
          <a:prstGeom prst="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338328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181F32"/>
                </a:solidFill>
                <a:latin typeface="Aptos"/>
              </a:defRPr>
            </a:pPr>
            <a:r>
              <a:t>84.02%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Netherlands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3794759"/>
            <a:ext cx="88980" cy="128016"/>
          </a:xfrm>
          <a:prstGeom prst="rect">
            <a:avLst/>
          </a:prstGeom>
          <a:solidFill>
            <a:srgbClr val="34A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37764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181F32"/>
                </a:solidFill>
                <a:latin typeface="Aptos"/>
              </a:defRPr>
            </a:pPr>
            <a:r>
              <a:t>2.92%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EIRE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4187952"/>
            <a:ext cx="82276" cy="128016"/>
          </a:xfrm>
          <a:prstGeom prst="rect">
            <a:avLst/>
          </a:prstGeom>
          <a:solidFill>
            <a:srgbClr val="34A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416966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181F32"/>
                </a:solidFill>
                <a:latin typeface="Aptos"/>
              </a:defRPr>
            </a:pPr>
            <a:r>
              <a:t>2.70%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6285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Germany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4581144"/>
            <a:ext cx="69173" cy="128016"/>
          </a:xfrm>
          <a:prstGeom prst="rect">
            <a:avLst/>
          </a:prstGeom>
          <a:solidFill>
            <a:srgbClr val="34A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456285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181F32"/>
                </a:solidFill>
                <a:latin typeface="Aptos"/>
              </a:defRPr>
            </a:pPr>
            <a:r>
              <a:t>2.27%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France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974336"/>
            <a:ext cx="61554" cy="128016"/>
          </a:xfrm>
          <a:prstGeom prst="rect">
            <a:avLst/>
          </a:prstGeom>
          <a:solidFill>
            <a:srgbClr val="34A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49560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181F32"/>
                </a:solidFill>
                <a:latin typeface="Aptos"/>
              </a:defRPr>
            </a:pPr>
            <a:r>
              <a:t>2.02%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45920"/>
            <a:ext cx="5166360" cy="420624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19019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CUSTOMER CONCENTRATION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60.05%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1635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of identifiable-customer revenue came from the top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6576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69.86%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6941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revenue from 833</a:t>
            </a:r>
            <a:br/>
            <a:r>
              <a:t>high-value, high-frequency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006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Implication: retention risk matters because a relatively small customer group contributes disproportionate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06 / 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Net product ranking prevented a £168K fully cancelled transaction from becoming a false 'top product'.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074920" cy="361188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VALIDATED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1F32"/>
                </a:solidFill>
                <a:latin typeface="Aptos"/>
              </a:defRPr>
            </a:pPr>
            <a:r>
              <a:t>REGENCY CAKESTAND</a:t>
            </a:r>
            <a:br/>
            <a:r>
              <a:t>3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E1A77"/>
                </a:solidFill>
                <a:latin typeface="Aptos"/>
              </a:defRPr>
            </a:pPr>
            <a:r>
              <a:t>£164.76K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307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26C7E"/>
                </a:solidFill>
                <a:latin typeface="Aptos"/>
              </a:defRPr>
            </a:pPr>
            <a:r>
              <a:t>net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81F32"/>
                </a:solidFill>
                <a:latin typeface="Aptos"/>
              </a:defRPr>
            </a:pPr>
            <a:r>
              <a:t>13,022 net units  •  1,988 sales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5394960" cy="361188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VALIDATION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PAPER CRAFT,</a:t>
            </a:r>
            <a:br/>
            <a:r>
              <a:t>LITTLE BIRDIE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+£168.47K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2461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−£168.47K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65760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matching cancellation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NET CONTRIBUTION = £0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C7E"/>
                </a:solidFill>
                <a:latin typeface="Aptos"/>
              </a:defRPr>
            </a:pPr>
            <a:r>
              <a:t>Non-merchandise codes such as DOT, POST, M, AMAZONFEE and S were excluded from merchandise rankings.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07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rPr sz="2300" dirty="0"/>
              <a:t>The Power BI layer turns the validated SQL logic into an interactive executive view.</a:t>
            </a:r>
          </a:p>
        </p:txBody>
      </p:sp>
      <p:pic>
        <p:nvPicPr>
          <p:cNvPr id="4" name="Picture 3" descr="Screenshot 2026-10-20 125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29" y="1239486"/>
            <a:ext cx="8650941" cy="4898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6272784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C7E"/>
                </a:solidFill>
                <a:latin typeface="Aptos"/>
              </a:defRPr>
            </a:pPr>
            <a:r>
              <a:t>Slicers recalculate revenue, orders, customers, AOV, units, product ranking and customer ranking while preserving the validated business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08 /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t>The evidence points to three priorities: retain value, plan around demand, and test diversification.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977639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Protect high-value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2834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Use repeat-purchase and value concentration insights to prioritize retention, service and account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429000" cy="3977639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9385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1A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14600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81F32"/>
                </a:solidFill>
                <a:latin typeface="Aptos"/>
              </a:defRPr>
            </a:pPr>
            <a:r>
              <a:t>Strengthen product &amp; demand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611880"/>
            <a:ext cx="2834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81F32"/>
                </a:solidFill>
                <a:latin typeface="Aptos"/>
              </a:defRPr>
            </a:pPr>
            <a:r>
              <a:rPr dirty="0"/>
              <a:t>Use validated product performance and strong demand periods to guide inventory, merchandising and promotions.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91640"/>
            <a:ext cx="3429000" cy="3977639"/>
          </a:xfrm>
          <a:prstGeom prst="roundRect">
            <a:avLst/>
          </a:prstGeom>
          <a:solidFill>
            <a:srgbClr val="EFF3FA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03920" y="19385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1A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14600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81F32"/>
                </a:solidFill>
                <a:latin typeface="Aptos"/>
              </a:defRPr>
            </a:pPr>
            <a:r>
              <a:t>Assess geographic diversification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11880"/>
            <a:ext cx="2834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81F32"/>
                </a:solidFill>
                <a:latin typeface="Aptos"/>
              </a:defRPr>
            </a:pPr>
            <a:r>
              <a:t>Protect the UK core while testing whether high-AOV international markets can support commercially viable growth.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09 / LIMITS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1F32"/>
                </a:solidFill>
                <a:latin typeface="Aptos"/>
              </a:defRPr>
            </a:pPr>
            <a:r>
              <a:rPr dirty="0"/>
              <a:t>The dashboard improves visibility </a:t>
            </a:r>
            <a:r>
              <a:rPr lang="en-US" dirty="0"/>
              <a:t>-</a:t>
            </a:r>
            <a:r>
              <a:rPr dirty="0"/>
              <a:t> but it does not claim what the data cannot prove.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4846320" cy="4023360"/>
          </a:xfrm>
          <a:prstGeom prst="round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1A77"/>
                </a:solidFill>
                <a:latin typeface="Aptos"/>
              </a:defRPr>
            </a:pPr>
            <a:r>
              <a:t>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16052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81F32"/>
                </a:solidFill>
                <a:latin typeface="Aptos"/>
              </a:defRPr>
            </a:pPr>
            <a:r>
              <a:rPr sz="1500" dirty="0"/>
              <a:t>• Customer findings exclude missing </a:t>
            </a:r>
            <a:r>
              <a:rPr sz="1500" dirty="0" err="1"/>
              <a:t>CustomerID</a:t>
            </a:r>
            <a:r>
              <a:rPr sz="1500" dirty="0"/>
              <a:t> transactions.</a:t>
            </a:r>
          </a:p>
          <a:p>
            <a:pPr>
              <a:spcAft>
                <a:spcPts val="1000"/>
              </a:spcAft>
              <a:defRPr sz="1300">
                <a:solidFill>
                  <a:srgbClr val="181F32"/>
                </a:solidFill>
                <a:latin typeface="Aptos"/>
              </a:defRPr>
            </a:pPr>
            <a:r>
              <a:rPr sz="1500" dirty="0"/>
              <a:t>• December 2011 is partial through 9 December.</a:t>
            </a:r>
          </a:p>
          <a:p>
            <a:pPr>
              <a:spcAft>
                <a:spcPts val="1000"/>
              </a:spcAft>
              <a:defRPr sz="1300">
                <a:solidFill>
                  <a:srgbClr val="181F32"/>
                </a:solidFill>
                <a:latin typeface="Aptos"/>
              </a:defRPr>
            </a:pPr>
            <a:r>
              <a:rPr sz="1500" dirty="0"/>
              <a:t>• Net revenue is not profit; cost and margin data are absent.</a:t>
            </a:r>
          </a:p>
          <a:p>
            <a:pPr>
              <a:spcAft>
                <a:spcPts val="1000"/>
              </a:spcAft>
              <a:defRPr sz="1300">
                <a:solidFill>
                  <a:srgbClr val="181F32"/>
                </a:solidFill>
                <a:latin typeface="Aptos"/>
              </a:defRPr>
            </a:pPr>
            <a:r>
              <a:rPr sz="1500" dirty="0"/>
              <a:t>• No marketing spend, targets or attribution data are available.</a:t>
            </a:r>
          </a:p>
          <a:p>
            <a:pPr>
              <a:spcAft>
                <a:spcPts val="1000"/>
              </a:spcAft>
              <a:defRPr sz="1300">
                <a:solidFill>
                  <a:srgbClr val="181F32"/>
                </a:solidFill>
                <a:latin typeface="Aptos"/>
              </a:defRPr>
            </a:pPr>
            <a:r>
              <a:rPr sz="1500" dirty="0"/>
              <a:t>• Patterns are associative, not causal.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691640"/>
            <a:ext cx="5623560" cy="4023360"/>
          </a:xfrm>
          <a:prstGeom prst="roundRect">
            <a:avLst/>
          </a:prstGeom>
          <a:solidFill>
            <a:srgbClr val="0E1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CASE STUDY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23160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A reproducible commercial analysis that connects business framing, SQL validation, Power BI reporting and evidence-based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21616"/>
            <a:ext cx="5013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ASK  →  PREPARE  →  PROCESS  →  ANALYZE  →  SHARE  → 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26C7E"/>
                </a:solidFill>
                <a:latin typeface="Aptos"/>
              </a:defRPr>
            </a:pPr>
            <a:r>
              <a:t>ONLINE RETAIL SALES &amp; CUSTOMER 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0E1A7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839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Kalu</cp:lastModifiedBy>
  <cp:revision>2</cp:revision>
  <dcterms:created xsi:type="dcterms:W3CDTF">2013-01-27T09:14:16Z</dcterms:created>
  <dcterms:modified xsi:type="dcterms:W3CDTF">2026-10-20T13:45:45Z</dcterms:modified>
  <cp:category/>
</cp:coreProperties>
</file>